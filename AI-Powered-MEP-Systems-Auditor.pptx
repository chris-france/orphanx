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Inter" panose="020B0604020202020204" charset="0"/>
      <p:regular r:id="rId8"/>
    </p:embeddedFont>
  </p:embeddedFontLst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85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kar Lindström" userId="ac0e1764-6761-4601-b8bd-07aade46fddd" providerId="ADAL" clId="{60D17DC1-0868-4749-93F0-44E589C57C87}"/>
    <pc:docChg chg="modSld">
      <pc:chgData name="Oskar Lindström" userId="ac0e1764-6761-4601-b8bd-07aade46fddd" providerId="ADAL" clId="{60D17DC1-0868-4749-93F0-44E589C57C87}" dt="2026-04-14T14:06:31.503" v="4" actId="20577"/>
      <pc:docMkLst>
        <pc:docMk/>
      </pc:docMkLst>
      <pc:sldChg chg="modSp mod">
        <pc:chgData name="Oskar Lindström" userId="ac0e1764-6761-4601-b8bd-07aade46fddd" providerId="ADAL" clId="{60D17DC1-0868-4749-93F0-44E589C57C87}" dt="2026-04-14T14:06:31.503" v="4" actId="20577"/>
        <pc:sldMkLst>
          <pc:docMk/>
          <pc:sldMk cId="0" sldId="258"/>
        </pc:sldMkLst>
        <pc:spChg chg="mod">
          <ac:chgData name="Oskar Lindström" userId="ac0e1764-6761-4601-b8bd-07aade46fddd" providerId="ADAL" clId="{60D17DC1-0868-4749-93F0-44E589C57C87}" dt="2026-04-14T14:06:31.503" v="4" actId="20577"/>
          <ac:spMkLst>
            <pc:docMk/>
            <pc:sldMk cId="0" sldId="258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4553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23046" y="101036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Orphan X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059305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AI-Powered MEP Systems Auditor</a:t>
            </a:r>
            <a:endParaRPr lang="en-US" sz="6150" dirty="0"/>
          </a:p>
        </p:txBody>
      </p:sp>
      <p:sp>
        <p:nvSpPr>
          <p:cNvPr id="5" name="Text 2"/>
          <p:cNvSpPr/>
          <p:nvPr/>
        </p:nvSpPr>
        <p:spPr>
          <a:xfrm>
            <a:off x="6280190" y="435590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the pipes that kill patients.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5030629"/>
            <a:ext cx="7556421" cy="1690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Text 4"/>
          <p:cNvSpPr/>
          <p:nvPr/>
        </p:nvSpPr>
        <p:spPr>
          <a:xfrm>
            <a:off x="6280190" y="5563433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</a:p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Chris France · Ignacio Benito Soto · Oskar Lindström · Petra O'Sullivan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342721" y="5563433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</a:t>
            </a:r>
          </a:p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Autodesk DevCon 2026 — Dynamo Day Hackathon, Amsterdam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3911"/>
            <a:ext cx="5351740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Dead Legs Kill People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1819275"/>
            <a:ext cx="13042821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Dead-end pipe branches where water stagnates breed 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Legionella bacteria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Legionnaires' disease kills 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in 10 hospitalized patients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(CDC). ASHRAE Standard 188 mandates dead leg elimination in every healthcare facility — yet most dead legs are only found </a:t>
            </a:r>
            <a:r>
              <a:rPr lang="en-US" sz="16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someone gets sick.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93790" y="2956798"/>
            <a:ext cx="6429494" cy="1783199"/>
          </a:xfrm>
          <a:prstGeom prst="roundRect">
            <a:avLst>
              <a:gd name="adj" fmla="val 480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1005483" y="316849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🦠</a:t>
            </a: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The Pathogen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483" y="3597473"/>
            <a:ext cx="6006108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Stagnant water in dead-end pipe branches creates ideal conditions for Legionella to multiply to lethal concentrations.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06997" y="2956798"/>
            <a:ext cx="6429613" cy="1783199"/>
          </a:xfrm>
          <a:prstGeom prst="roundRect">
            <a:avLst>
              <a:gd name="adj" fmla="val 480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7618690" y="316849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⚠️</a:t>
            </a: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The Regulation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18690" y="3597473"/>
            <a:ext cx="6006227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ASHRAE Standard 188 requires dead leg elimination in healthcare facilities. NFPA 13 and IPC 901.2 set additional code requirements.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3790" y="4923711"/>
            <a:ext cx="6429494" cy="1472922"/>
          </a:xfrm>
          <a:prstGeom prst="roundRect">
            <a:avLst>
              <a:gd name="adj" fmla="val 582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1005483" y="513540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🕐</a:t>
            </a: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The Human Limit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483" y="5564386"/>
            <a:ext cx="6006108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mechanical engineer takes 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full days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manually audit one hospital MEP model — and still misses things.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06997" y="4923711"/>
            <a:ext cx="6429613" cy="1472922"/>
          </a:xfrm>
          <a:prstGeom prst="roundRect">
            <a:avLst>
              <a:gd name="adj" fmla="val 582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7618690" y="513540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📐</a:t>
            </a: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The Scale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618690" y="5564386"/>
            <a:ext cx="6006227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18,000 elements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across 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1,100 systems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a single hospital model. No human can check every pipe.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3790" y="6603325"/>
            <a:ext cx="13042821" cy="812244"/>
          </a:xfrm>
          <a:prstGeom prst="roundRect">
            <a:avLst>
              <a:gd name="adj" fmla="val 10556"/>
            </a:avLst>
          </a:prstGeom>
          <a:solidFill>
            <a:srgbClr val="FFB3B4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63" y="6908363"/>
            <a:ext cx="255151" cy="20407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57087" y="6837998"/>
            <a:ext cx="1217545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dead legs are found </a:t>
            </a: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someone gets sick.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is the problem Orphan X was built to solve.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571024"/>
            <a:ext cx="5601295" cy="410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One Script. One Click. </a:t>
            </a:r>
            <a:r>
              <a:rPr lang="en-US" sz="2550" b="1" dirty="0">
                <a:solidFill>
                  <a:srgbClr val="FF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120 Seconds.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706993" y="1133237"/>
            <a:ext cx="13216414" cy="165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Orphan X connects Revit directly to Claude AI through a custom MCP server — transforming a 3-day manual audit into a fully automated, AI-powered safety sweep.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0" y="1470065"/>
            <a:ext cx="5511046" cy="30114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17476" y="2881107"/>
            <a:ext cx="1276950" cy="17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Revit Model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141993" y="2861513"/>
            <a:ext cx="1276950" cy="17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Dynamo Python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66798" y="2867787"/>
            <a:ext cx="1276950" cy="17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Local + Claude API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9513451" y="1529834"/>
            <a:ext cx="4417457" cy="913328"/>
          </a:xfrm>
          <a:prstGeom prst="roundRect">
            <a:avLst>
              <a:gd name="adj" fmla="val 8009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6"/>
          <p:cNvSpPr/>
          <p:nvPr/>
        </p:nvSpPr>
        <p:spPr>
          <a:xfrm>
            <a:off x="9498211" y="1529834"/>
            <a:ext cx="60960" cy="913328"/>
          </a:xfrm>
          <a:prstGeom prst="roundRect">
            <a:avLst>
              <a:gd name="adj" fmla="val 90471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Text 7"/>
          <p:cNvSpPr/>
          <p:nvPr/>
        </p:nvSpPr>
        <p:spPr>
          <a:xfrm>
            <a:off x="9705618" y="1676281"/>
            <a:ext cx="1641396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🔍</a:t>
            </a: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EXTRACT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705618" y="1965007"/>
            <a:ext cx="4078843" cy="33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Scans all MEP systems and builds element-to-system index using reverse lookup (Revit 2026 fix).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513451" y="2519124"/>
            <a:ext cx="4417457" cy="913328"/>
          </a:xfrm>
          <a:prstGeom prst="roundRect">
            <a:avLst>
              <a:gd name="adj" fmla="val 8009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Shape 10"/>
          <p:cNvSpPr/>
          <p:nvPr/>
        </p:nvSpPr>
        <p:spPr>
          <a:xfrm>
            <a:off x="9498211" y="2519124"/>
            <a:ext cx="60960" cy="913328"/>
          </a:xfrm>
          <a:prstGeom prst="roundRect">
            <a:avLst>
              <a:gd name="adj" fmla="val 90471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4" name="Text 11"/>
          <p:cNvSpPr/>
          <p:nvPr/>
        </p:nvSpPr>
        <p:spPr>
          <a:xfrm>
            <a:off x="9705618" y="2665571"/>
            <a:ext cx="1641396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🧠</a:t>
            </a: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ANALYZE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705618" y="2954298"/>
            <a:ext cx="4078843" cy="33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traces pipe topology — finds dead legs per ASHRAE 188, code violations per NFPA 13 and IPC 901.2, and all safety risks.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513451" y="3508415"/>
            <a:ext cx="4417457" cy="913328"/>
          </a:xfrm>
          <a:prstGeom prst="roundRect">
            <a:avLst>
              <a:gd name="adj" fmla="val 8009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Shape 14"/>
          <p:cNvSpPr/>
          <p:nvPr/>
        </p:nvSpPr>
        <p:spPr>
          <a:xfrm>
            <a:off x="9498211" y="3508415"/>
            <a:ext cx="60960" cy="913328"/>
          </a:xfrm>
          <a:prstGeom prst="roundRect">
            <a:avLst>
              <a:gd name="adj" fmla="val 90471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8" name="Text 15"/>
          <p:cNvSpPr/>
          <p:nvPr/>
        </p:nvSpPr>
        <p:spPr>
          <a:xfrm>
            <a:off x="9705618" y="3654862"/>
            <a:ext cx="1641396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🎨</a:t>
            </a: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VISUALIZE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9705618" y="3943588"/>
            <a:ext cx="4078843" cy="33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Color-codes every flagged element by severity in the live 3D model.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06993" y="4652486"/>
            <a:ext cx="13216414" cy="1388507"/>
          </a:xfrm>
          <a:prstGeom prst="roundRect">
            <a:avLst>
              <a:gd name="adj" fmla="val 39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Shape 18"/>
          <p:cNvSpPr/>
          <p:nvPr/>
        </p:nvSpPr>
        <p:spPr>
          <a:xfrm>
            <a:off x="714613" y="4660106"/>
            <a:ext cx="6600587" cy="686633"/>
          </a:xfrm>
          <a:prstGeom prst="roundRect">
            <a:avLst>
              <a:gd name="adj" fmla="val 8032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2" name="Text 19"/>
          <p:cNvSpPr/>
          <p:nvPr/>
        </p:nvSpPr>
        <p:spPr>
          <a:xfrm>
            <a:off x="845820" y="4791313"/>
            <a:ext cx="1641396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🔴</a:t>
            </a:r>
            <a:r>
              <a:rPr lang="en-US" sz="1250" b="1" dirty="0">
                <a:solidFill>
                  <a:srgbClr val="FF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RED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45820" y="5049679"/>
            <a:ext cx="6338173" cy="165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Safety Critical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315200" y="4660106"/>
            <a:ext cx="6600587" cy="686633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5" name="Shape 22"/>
          <p:cNvSpPr/>
          <p:nvPr/>
        </p:nvSpPr>
        <p:spPr>
          <a:xfrm>
            <a:off x="7315200" y="4660106"/>
            <a:ext cx="15240" cy="686633"/>
          </a:xfrm>
          <a:prstGeom prst="roundRect">
            <a:avLst>
              <a:gd name="adj" fmla="val 361883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6" name="Text 23"/>
          <p:cNvSpPr/>
          <p:nvPr/>
        </p:nvSpPr>
        <p:spPr>
          <a:xfrm>
            <a:off x="7446407" y="4791313"/>
            <a:ext cx="1641396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🟠</a:t>
            </a: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ORANGE FUTURE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446407" y="5049679"/>
            <a:ext cx="6338173" cy="165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Violation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14613" y="5346740"/>
            <a:ext cx="6600587" cy="686633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LID4096" dirty="0"/>
          </a:p>
        </p:txBody>
      </p:sp>
      <p:sp>
        <p:nvSpPr>
          <p:cNvPr id="29" name="Shape 26"/>
          <p:cNvSpPr/>
          <p:nvPr/>
        </p:nvSpPr>
        <p:spPr>
          <a:xfrm>
            <a:off x="714613" y="5346740"/>
            <a:ext cx="6600587" cy="15240"/>
          </a:xfrm>
          <a:prstGeom prst="roundRect">
            <a:avLst>
              <a:gd name="adj" fmla="val 361883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0" name="Text 27"/>
          <p:cNvSpPr/>
          <p:nvPr/>
        </p:nvSpPr>
        <p:spPr>
          <a:xfrm>
            <a:off x="845820" y="5477947"/>
            <a:ext cx="1641396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🟡</a:t>
            </a: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YELLOW FUTURE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845820" y="5736312"/>
            <a:ext cx="6338173" cy="165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 Risk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315200" y="5346740"/>
            <a:ext cx="6600587" cy="686633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3" name="Shape 30"/>
          <p:cNvSpPr/>
          <p:nvPr/>
        </p:nvSpPr>
        <p:spPr>
          <a:xfrm>
            <a:off x="7315200" y="5346740"/>
            <a:ext cx="15240" cy="686633"/>
          </a:xfrm>
          <a:prstGeom prst="roundRect">
            <a:avLst>
              <a:gd name="adj" fmla="val 361883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4" name="Shape 31"/>
          <p:cNvSpPr/>
          <p:nvPr/>
        </p:nvSpPr>
        <p:spPr>
          <a:xfrm>
            <a:off x="7315200" y="5346740"/>
            <a:ext cx="6600587" cy="15240"/>
          </a:xfrm>
          <a:prstGeom prst="roundRect">
            <a:avLst>
              <a:gd name="adj" fmla="val 361883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5" name="Text 32"/>
          <p:cNvSpPr/>
          <p:nvPr/>
        </p:nvSpPr>
        <p:spPr>
          <a:xfrm>
            <a:off x="7446407" y="5477947"/>
            <a:ext cx="1641396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🩵</a:t>
            </a: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CYAN FUTURE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7446407" y="5736312"/>
            <a:ext cx="6338173" cy="165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Minor Issue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1466850" y="6192083"/>
            <a:ext cx="2822258" cy="433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3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1,119</a:t>
            </a:r>
            <a:endParaRPr lang="en-US" sz="3400" dirty="0"/>
          </a:p>
        </p:txBody>
      </p:sp>
      <p:sp>
        <p:nvSpPr>
          <p:cNvPr id="38" name="Text 35"/>
          <p:cNvSpPr/>
          <p:nvPr/>
        </p:nvSpPr>
        <p:spPr>
          <a:xfrm>
            <a:off x="2057281" y="6747867"/>
            <a:ext cx="1641396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Systems Analyzed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706993" y="6998613"/>
            <a:ext cx="4342090" cy="165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MEP system in the model, fully indexed and traced.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903952" y="6192083"/>
            <a:ext cx="2822258" cy="433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3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18K</a:t>
            </a:r>
            <a:endParaRPr lang="en-US" sz="3400" dirty="0"/>
          </a:p>
        </p:txBody>
      </p:sp>
      <p:sp>
        <p:nvSpPr>
          <p:cNvPr id="41" name="Text 38"/>
          <p:cNvSpPr/>
          <p:nvPr/>
        </p:nvSpPr>
        <p:spPr>
          <a:xfrm>
            <a:off x="6494383" y="6747867"/>
            <a:ext cx="1641396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Elements Checked</a:t>
            </a:r>
            <a:endParaRPr lang="en-US" sz="1250" dirty="0"/>
          </a:p>
        </p:txBody>
      </p:sp>
      <p:sp>
        <p:nvSpPr>
          <p:cNvPr id="42" name="Text 39"/>
          <p:cNvSpPr/>
          <p:nvPr/>
        </p:nvSpPr>
        <p:spPr>
          <a:xfrm>
            <a:off x="5144095" y="6998613"/>
            <a:ext cx="4342090" cy="165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pipe, fitting, and terminal — no exceptions.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10341054" y="6192083"/>
            <a:ext cx="2822258" cy="433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3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120s</a:t>
            </a:r>
            <a:endParaRPr lang="en-US" sz="3400" dirty="0"/>
          </a:p>
        </p:txBody>
      </p:sp>
      <p:sp>
        <p:nvSpPr>
          <p:cNvPr id="44" name="Text 41"/>
          <p:cNvSpPr/>
          <p:nvPr/>
        </p:nvSpPr>
        <p:spPr>
          <a:xfrm>
            <a:off x="10931485" y="6747867"/>
            <a:ext cx="1641396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Audit Time</a:t>
            </a:r>
            <a:endParaRPr lang="en-US" sz="1250" dirty="0"/>
          </a:p>
        </p:txBody>
      </p:sp>
      <p:sp>
        <p:nvSpPr>
          <p:cNvPr id="45" name="Text 42"/>
          <p:cNvSpPr/>
          <p:nvPr/>
        </p:nvSpPr>
        <p:spPr>
          <a:xfrm>
            <a:off x="9581198" y="6998613"/>
            <a:ext cx="4342090" cy="165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blank model to fully color-coded safety report.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706993" y="7249954"/>
            <a:ext cx="13216414" cy="408503"/>
          </a:xfrm>
          <a:prstGeom prst="roundRect">
            <a:avLst>
              <a:gd name="adj" fmla="val 13501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7428548"/>
            <a:ext cx="164068" cy="131207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1133475" y="7358658"/>
            <a:ext cx="12658725" cy="165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is </a:t>
            </a: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swappable</a:t>
            </a: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Claude today, Ollama or any local LLM tomorrow. The MCP standard means any AI client can connect.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4144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Watch It </a:t>
            </a:r>
            <a:r>
              <a:rPr lang="en-US" sz="3750" b="1" dirty="0">
                <a:solidFill>
                  <a:srgbClr val="FF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Work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704261"/>
            <a:ext cx="130428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complex setup. No special tooling. Just a single Python Script node dropped into Dynamo — and the model lights up.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93790" y="2173843"/>
            <a:ext cx="6439495" cy="578406"/>
          </a:xfrm>
          <a:prstGeom prst="roundRect">
            <a:avLst>
              <a:gd name="adj" fmla="val 4800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3868936" y="2282309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86552" y="291607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Paste the Script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86552" y="3315533"/>
            <a:ext cx="605397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Python Script node in Dynamo. One paste.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97115" y="2173843"/>
            <a:ext cx="6439495" cy="578406"/>
          </a:xfrm>
          <a:prstGeom prst="roundRect">
            <a:avLst>
              <a:gd name="adj" fmla="val 4800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10472261" y="2282309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7589877" y="291607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Click Run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589877" y="3315533"/>
            <a:ext cx="605397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click triggers the full pipeline — extract, analyze, visualize.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3790" y="3957399"/>
            <a:ext cx="6439495" cy="578406"/>
          </a:xfrm>
          <a:prstGeom prst="roundRect">
            <a:avLst>
              <a:gd name="adj" fmla="val 4800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3868936" y="4065865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86552" y="469963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Wait 120 Seconds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986552" y="5099090"/>
            <a:ext cx="605397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reads every pipe across all 1,119 systems.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97115" y="3957399"/>
            <a:ext cx="6439495" cy="578406"/>
          </a:xfrm>
          <a:prstGeom prst="roundRect">
            <a:avLst>
              <a:gd name="adj" fmla="val 48000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10472261" y="4065865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7589877" y="4699635"/>
            <a:ext cx="241113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Model Lights Up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7589877" y="5099090"/>
            <a:ext cx="605397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flagged element color-coded live in the 3D view.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82993" y="5945743"/>
            <a:ext cx="12753618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Floor 2 — Domestic Hot Water System: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Dead leg flagged as </a:t>
            </a:r>
            <a:r>
              <a:rPr lang="en-US" sz="1500" b="1" dirty="0">
                <a:solidFill>
                  <a:srgbClr val="FF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Patient Safety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ASHRAE 188 violation reference. RED pipes are the ones that could kill patients.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93790" y="5761434"/>
            <a:ext cx="22860" cy="939165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793790" y="6884908"/>
            <a:ext cx="1304282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Watch node output shows everything: systems found, orphans detected, AI findings with severity levels and exact code references. </a:t>
            </a: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paste. One click. One view.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6903"/>
            <a:ext cx="601920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FF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 Days</a:t>
            </a: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Becomes </a:t>
            </a:r>
            <a:r>
              <a:rPr lang="en-US" sz="3300" b="1" dirty="0">
                <a:solidFill>
                  <a:srgbClr val="FF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120 Seconds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787366"/>
            <a:ext cx="281118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Today — Without Orphan X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93790" y="2196584"/>
            <a:ext cx="6313884" cy="631507"/>
          </a:xfrm>
          <a:prstGeom prst="roundRect">
            <a:avLst>
              <a:gd name="adj" fmla="val 17376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770930" y="2196584"/>
            <a:ext cx="91440" cy="631507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1055251" y="2389465"/>
            <a:ext cx="5859542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⏳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Manual audit takes </a:t>
            </a: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full days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 hospital model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93790" y="2955608"/>
            <a:ext cx="6313884" cy="631507"/>
          </a:xfrm>
          <a:prstGeom prst="roundRect">
            <a:avLst>
              <a:gd name="adj" fmla="val 17376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Shape 6"/>
          <p:cNvSpPr/>
          <p:nvPr/>
        </p:nvSpPr>
        <p:spPr>
          <a:xfrm>
            <a:off x="770930" y="2955608"/>
            <a:ext cx="91440" cy="631507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1055251" y="3148489"/>
            <a:ext cx="5859542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🙈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Engineers miss things — fatigue, scale, complexity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3790" y="3714631"/>
            <a:ext cx="6313884" cy="631507"/>
          </a:xfrm>
          <a:prstGeom prst="roundRect">
            <a:avLst>
              <a:gd name="adj" fmla="val 17376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770930" y="3714631"/>
            <a:ext cx="91440" cy="631507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1055251" y="3907512"/>
            <a:ext cx="5859542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💀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Dead legs found </a:t>
            </a: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patients get sick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07831" y="1659850"/>
            <a:ext cx="6558915" cy="2829758"/>
          </a:xfrm>
          <a:prstGeom prst="roundRect">
            <a:avLst>
              <a:gd name="adj" fmla="val 4329"/>
            </a:avLst>
          </a:prstGeom>
          <a:solidFill>
            <a:srgbClr val="1A00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7577852" y="1787366"/>
            <a:ext cx="2890837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FF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Tomorrow — With Orphan X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577852" y="2196584"/>
            <a:ext cx="6218873" cy="631507"/>
          </a:xfrm>
          <a:prstGeom prst="roundRect">
            <a:avLst>
              <a:gd name="adj" fmla="val 17376"/>
            </a:avLst>
          </a:prstGeom>
          <a:solidFill>
            <a:srgbClr val="1A0000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Shape 14"/>
          <p:cNvSpPr/>
          <p:nvPr/>
        </p:nvSpPr>
        <p:spPr>
          <a:xfrm>
            <a:off x="7554992" y="2196584"/>
            <a:ext cx="91440" cy="631507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7839313" y="2389465"/>
            <a:ext cx="5764530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 audit in </a:t>
            </a: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 seconds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every time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77852" y="2955608"/>
            <a:ext cx="6218873" cy="631507"/>
          </a:xfrm>
          <a:prstGeom prst="roundRect">
            <a:avLst>
              <a:gd name="adj" fmla="val 17376"/>
            </a:avLst>
          </a:prstGeom>
          <a:solidFill>
            <a:srgbClr val="1A0000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Shape 17"/>
          <p:cNvSpPr/>
          <p:nvPr/>
        </p:nvSpPr>
        <p:spPr>
          <a:xfrm>
            <a:off x="7554992" y="2955608"/>
            <a:ext cx="91440" cy="631507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7839313" y="3148489"/>
            <a:ext cx="5764530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🔎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Finds what humans miss — every pipe, every floor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577852" y="3714631"/>
            <a:ext cx="6218873" cy="631507"/>
          </a:xfrm>
          <a:prstGeom prst="roundRect">
            <a:avLst>
              <a:gd name="adj" fmla="val 17376"/>
            </a:avLst>
          </a:prstGeom>
          <a:solidFill>
            <a:srgbClr val="1A0000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Shape 20"/>
          <p:cNvSpPr/>
          <p:nvPr/>
        </p:nvSpPr>
        <p:spPr>
          <a:xfrm>
            <a:off x="7554992" y="3714631"/>
            <a:ext cx="91440" cy="631507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7839313" y="3907512"/>
            <a:ext cx="5764530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🛡️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Dead legs caught </a:t>
            </a: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anyone gets sick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93790" y="4680942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Road Ahead</a:t>
            </a:r>
            <a:endParaRPr lang="en-US" sz="165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5138023"/>
            <a:ext cx="425291" cy="425291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93790" y="5722739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Swap Any LLM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793790" y="6064925"/>
            <a:ext cx="424124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Ollama, vLLM, local models — the MCP standard means any AI client can connect. No vendor lock-in.</a:t>
            </a:r>
            <a:endParaRPr lang="en-US" sz="13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459" y="5138023"/>
            <a:ext cx="425291" cy="425291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194459" y="5722739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Any MEP Model</a:t>
            </a:r>
            <a:endParaRPr lang="en-US" sz="1650" dirty="0"/>
          </a:p>
        </p:txBody>
      </p:sp>
      <p:sp>
        <p:nvSpPr>
          <p:cNvPr id="30" name="Text 26"/>
          <p:cNvSpPr/>
          <p:nvPr/>
        </p:nvSpPr>
        <p:spPr>
          <a:xfrm>
            <a:off x="5194459" y="6064925"/>
            <a:ext cx="424136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Hospitals, labs, commercial buildings — if it's in Revit, Orphan X can audit it.</a:t>
            </a:r>
            <a:endParaRPr lang="en-US" sz="1300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95247" y="5138023"/>
            <a:ext cx="425291" cy="425291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9595247" y="5722739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Never Tires</a:t>
            </a:r>
            <a:endParaRPr lang="en-US" sz="1650" dirty="0"/>
          </a:p>
        </p:txBody>
      </p:sp>
      <p:sp>
        <p:nvSpPr>
          <p:cNvPr id="33" name="Text 28"/>
          <p:cNvSpPr/>
          <p:nvPr/>
        </p:nvSpPr>
        <p:spPr>
          <a:xfrm>
            <a:off x="9595247" y="6064925"/>
            <a:ext cx="424136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does not get tired. The AI does not skip floors. The AI reads every pipe.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793790" y="6684645"/>
            <a:ext cx="13042821" cy="607933"/>
          </a:xfrm>
          <a:prstGeom prst="roundRect">
            <a:avLst>
              <a:gd name="adj" fmla="val 11753"/>
            </a:avLst>
          </a:prstGeom>
          <a:solidFill>
            <a:srgbClr val="FFB3B4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811" y="6931223"/>
            <a:ext cx="212646" cy="170021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346478" y="6854666"/>
            <a:ext cx="1232011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does not get tired. The AI does not skip floors. The AI reads every pipe.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That is the promise of Orphan X.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713</Words>
  <Application>Microsoft Office PowerPoint</Application>
  <PresentationFormat>Custom</PresentationFormat>
  <Paragraphs>85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Oskar Lindström</dc:creator>
  <cp:lastModifiedBy>Oskar Lindström</cp:lastModifiedBy>
  <cp:revision>2</cp:revision>
  <dcterms:created xsi:type="dcterms:W3CDTF">2026-04-14T11:29:10Z</dcterms:created>
  <dcterms:modified xsi:type="dcterms:W3CDTF">2026-04-14T14:06:40Z</dcterms:modified>
</cp:coreProperties>
</file>